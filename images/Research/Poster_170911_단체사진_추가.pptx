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8640763" cy="12218988"/>
  <p:notesSz cx="6858000" cy="9144000"/>
  <p:defaultTextStyle>
    <a:defPPr>
      <a:defRPr lang="ko-KR"/>
    </a:defPPr>
    <a:lvl1pPr marL="0" algn="l" defTabSz="1137788" rtl="0" eaLnBrk="1" latinLnBrk="1" hangingPunct="1">
      <a:defRPr sz="2240" kern="1200">
        <a:solidFill>
          <a:schemeClr val="tx1"/>
        </a:solidFill>
        <a:latin typeface="+mn-lt"/>
        <a:ea typeface="+mn-ea"/>
        <a:cs typeface="+mn-cs"/>
      </a:defRPr>
    </a:lvl1pPr>
    <a:lvl2pPr marL="568894" algn="l" defTabSz="1137788" rtl="0" eaLnBrk="1" latinLnBrk="1" hangingPunct="1">
      <a:defRPr sz="2240" kern="1200">
        <a:solidFill>
          <a:schemeClr val="tx1"/>
        </a:solidFill>
        <a:latin typeface="+mn-lt"/>
        <a:ea typeface="+mn-ea"/>
        <a:cs typeface="+mn-cs"/>
      </a:defRPr>
    </a:lvl2pPr>
    <a:lvl3pPr marL="1137788" algn="l" defTabSz="1137788" rtl="0" eaLnBrk="1" latinLnBrk="1" hangingPunct="1">
      <a:defRPr sz="2240" kern="1200">
        <a:solidFill>
          <a:schemeClr val="tx1"/>
        </a:solidFill>
        <a:latin typeface="+mn-lt"/>
        <a:ea typeface="+mn-ea"/>
        <a:cs typeface="+mn-cs"/>
      </a:defRPr>
    </a:lvl3pPr>
    <a:lvl4pPr marL="1706682" algn="l" defTabSz="1137788" rtl="0" eaLnBrk="1" latinLnBrk="1" hangingPunct="1">
      <a:defRPr sz="2240" kern="1200">
        <a:solidFill>
          <a:schemeClr val="tx1"/>
        </a:solidFill>
        <a:latin typeface="+mn-lt"/>
        <a:ea typeface="+mn-ea"/>
        <a:cs typeface="+mn-cs"/>
      </a:defRPr>
    </a:lvl4pPr>
    <a:lvl5pPr marL="2275576" algn="l" defTabSz="1137788" rtl="0" eaLnBrk="1" latinLnBrk="1" hangingPunct="1">
      <a:defRPr sz="2240" kern="1200">
        <a:solidFill>
          <a:schemeClr val="tx1"/>
        </a:solidFill>
        <a:latin typeface="+mn-lt"/>
        <a:ea typeface="+mn-ea"/>
        <a:cs typeface="+mn-cs"/>
      </a:defRPr>
    </a:lvl5pPr>
    <a:lvl6pPr marL="2844470" algn="l" defTabSz="1137788" rtl="0" eaLnBrk="1" latinLnBrk="1" hangingPunct="1">
      <a:defRPr sz="2240" kern="1200">
        <a:solidFill>
          <a:schemeClr val="tx1"/>
        </a:solidFill>
        <a:latin typeface="+mn-lt"/>
        <a:ea typeface="+mn-ea"/>
        <a:cs typeface="+mn-cs"/>
      </a:defRPr>
    </a:lvl6pPr>
    <a:lvl7pPr marL="3413364" algn="l" defTabSz="1137788" rtl="0" eaLnBrk="1" latinLnBrk="1" hangingPunct="1">
      <a:defRPr sz="2240" kern="1200">
        <a:solidFill>
          <a:schemeClr val="tx1"/>
        </a:solidFill>
        <a:latin typeface="+mn-lt"/>
        <a:ea typeface="+mn-ea"/>
        <a:cs typeface="+mn-cs"/>
      </a:defRPr>
    </a:lvl7pPr>
    <a:lvl8pPr marL="3982258" algn="l" defTabSz="1137788" rtl="0" eaLnBrk="1" latinLnBrk="1" hangingPunct="1">
      <a:defRPr sz="2240" kern="1200">
        <a:solidFill>
          <a:schemeClr val="tx1"/>
        </a:solidFill>
        <a:latin typeface="+mn-lt"/>
        <a:ea typeface="+mn-ea"/>
        <a:cs typeface="+mn-cs"/>
      </a:defRPr>
    </a:lvl8pPr>
    <a:lvl9pPr marL="4551152" algn="l" defTabSz="1137788" rtl="0" eaLnBrk="1" latinLnBrk="1" hangingPunct="1">
      <a:defRPr sz="224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C5580"/>
    <a:srgbClr val="5563C7"/>
    <a:srgbClr val="2C3786"/>
    <a:srgbClr val="41496E"/>
    <a:srgbClr val="333F50"/>
    <a:srgbClr val="FABE00"/>
    <a:srgbClr val="EEB500"/>
    <a:srgbClr val="E7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6303" autoAdjust="0"/>
    <p:restoredTop sz="94660"/>
  </p:normalViewPr>
  <p:slideViewPr>
    <p:cSldViewPr snapToGrid="0">
      <p:cViewPr>
        <p:scale>
          <a:sx n="400" d="100"/>
          <a:sy n="400" d="100"/>
        </p:scale>
        <p:origin x="-11166" y="-22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8057" y="1999729"/>
            <a:ext cx="7344649" cy="4254018"/>
          </a:xfrm>
        </p:spPr>
        <p:txBody>
          <a:bodyPr anchor="b"/>
          <a:lstStyle>
            <a:lvl1pPr algn="ctr">
              <a:defRPr sz="567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80096" y="6417798"/>
            <a:ext cx="6480572" cy="2950093"/>
          </a:xfrm>
        </p:spPr>
        <p:txBody>
          <a:bodyPr/>
          <a:lstStyle>
            <a:lvl1pPr marL="0" indent="0" algn="ctr">
              <a:buNone/>
              <a:defRPr sz="2268"/>
            </a:lvl1pPr>
            <a:lvl2pPr marL="432054" indent="0" algn="ctr">
              <a:buNone/>
              <a:defRPr sz="1890"/>
            </a:lvl2pPr>
            <a:lvl3pPr marL="864108" indent="0" algn="ctr">
              <a:buNone/>
              <a:defRPr sz="1701"/>
            </a:lvl3pPr>
            <a:lvl4pPr marL="1296162" indent="0" algn="ctr">
              <a:buNone/>
              <a:defRPr sz="1512"/>
            </a:lvl4pPr>
            <a:lvl5pPr marL="1728216" indent="0" algn="ctr">
              <a:buNone/>
              <a:defRPr sz="1512"/>
            </a:lvl5pPr>
            <a:lvl6pPr marL="2160270" indent="0" algn="ctr">
              <a:buNone/>
              <a:defRPr sz="1512"/>
            </a:lvl6pPr>
            <a:lvl7pPr marL="2592324" indent="0" algn="ctr">
              <a:buNone/>
              <a:defRPr sz="1512"/>
            </a:lvl7pPr>
            <a:lvl8pPr marL="3024378" indent="0" algn="ctr">
              <a:buNone/>
              <a:defRPr sz="1512"/>
            </a:lvl8pPr>
            <a:lvl9pPr marL="3456432" indent="0" algn="ctr">
              <a:buNone/>
              <a:defRPr sz="1512"/>
            </a:lvl9pPr>
          </a:lstStyle>
          <a:p>
            <a:r>
              <a:rPr lang="ko-KR" altLang="en-US" smtClean="0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C0F25-B03F-4EB6-8CD6-5E6DCA1E2CCD}" type="datetimeFigureOut">
              <a:rPr lang="ko-KR" altLang="en-US" smtClean="0"/>
              <a:t>2017-09-10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2E466-4943-4CCE-981E-408A0E3E0F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9384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C0F25-B03F-4EB6-8CD6-5E6DCA1E2CCD}" type="datetimeFigureOut">
              <a:rPr lang="ko-KR" altLang="en-US" smtClean="0"/>
              <a:t>2017-09-10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2E466-4943-4CCE-981E-408A0E3E0F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88537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553" y="3046265"/>
            <a:ext cx="7452658" cy="5082759"/>
          </a:xfrm>
        </p:spPr>
        <p:txBody>
          <a:bodyPr anchor="b"/>
          <a:lstStyle>
            <a:lvl1pPr>
              <a:defRPr sz="567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9553" y="8177109"/>
            <a:ext cx="7452658" cy="2672903"/>
          </a:xfrm>
        </p:spPr>
        <p:txBody>
          <a:bodyPr/>
          <a:lstStyle>
            <a:lvl1pPr marL="0" indent="0">
              <a:buNone/>
              <a:defRPr sz="2268">
                <a:solidFill>
                  <a:schemeClr val="tx1"/>
                </a:solidFill>
              </a:defRPr>
            </a:lvl1pPr>
            <a:lvl2pPr marL="432054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2pPr>
            <a:lvl3pPr marL="864108" indent="0">
              <a:buNone/>
              <a:defRPr sz="1701">
                <a:solidFill>
                  <a:schemeClr val="tx1">
                    <a:tint val="75000"/>
                  </a:schemeClr>
                </a:solidFill>
              </a:defRPr>
            </a:lvl3pPr>
            <a:lvl4pPr marL="1296162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4pPr>
            <a:lvl5pPr marL="1728216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5pPr>
            <a:lvl6pPr marL="2160270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6pPr>
            <a:lvl7pPr marL="2592324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7pPr>
            <a:lvl8pPr marL="3024378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8pPr>
            <a:lvl9pPr marL="3456432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C0F25-B03F-4EB6-8CD6-5E6DCA1E2CCD}" type="datetimeFigureOut">
              <a:rPr lang="ko-KR" altLang="en-US" smtClean="0"/>
              <a:t>2017-09-10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2E466-4943-4CCE-981E-408A0E3E0F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10984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4053" y="3252740"/>
            <a:ext cx="3672324" cy="7752836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74386" y="3252740"/>
            <a:ext cx="3672324" cy="7752836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C0F25-B03F-4EB6-8CD6-5E6DCA1E2CCD}" type="datetimeFigureOut">
              <a:rPr lang="ko-KR" altLang="en-US" smtClean="0"/>
              <a:t>2017-09-10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2E466-4943-4CCE-981E-408A0E3E0F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71543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5178" y="650551"/>
            <a:ext cx="7452658" cy="236177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5179" y="2995350"/>
            <a:ext cx="3655447" cy="1467975"/>
          </a:xfrm>
        </p:spPr>
        <p:txBody>
          <a:bodyPr anchor="b"/>
          <a:lstStyle>
            <a:lvl1pPr marL="0" indent="0">
              <a:buNone/>
              <a:defRPr sz="2268" b="1"/>
            </a:lvl1pPr>
            <a:lvl2pPr marL="432054" indent="0">
              <a:buNone/>
              <a:defRPr sz="1890" b="1"/>
            </a:lvl2pPr>
            <a:lvl3pPr marL="864108" indent="0">
              <a:buNone/>
              <a:defRPr sz="1701" b="1"/>
            </a:lvl3pPr>
            <a:lvl4pPr marL="1296162" indent="0">
              <a:buNone/>
              <a:defRPr sz="1512" b="1"/>
            </a:lvl4pPr>
            <a:lvl5pPr marL="1728216" indent="0">
              <a:buNone/>
              <a:defRPr sz="1512" b="1"/>
            </a:lvl5pPr>
            <a:lvl6pPr marL="2160270" indent="0">
              <a:buNone/>
              <a:defRPr sz="1512" b="1"/>
            </a:lvl6pPr>
            <a:lvl7pPr marL="2592324" indent="0">
              <a:buNone/>
              <a:defRPr sz="1512" b="1"/>
            </a:lvl7pPr>
            <a:lvl8pPr marL="3024378" indent="0">
              <a:buNone/>
              <a:defRPr sz="1512" b="1"/>
            </a:lvl8pPr>
            <a:lvl9pPr marL="3456432" indent="0">
              <a:buNone/>
              <a:defRPr sz="1512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5179" y="4463325"/>
            <a:ext cx="3655447" cy="656487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387" y="2995350"/>
            <a:ext cx="3673450" cy="1467975"/>
          </a:xfrm>
        </p:spPr>
        <p:txBody>
          <a:bodyPr anchor="b"/>
          <a:lstStyle>
            <a:lvl1pPr marL="0" indent="0">
              <a:buNone/>
              <a:defRPr sz="2268" b="1"/>
            </a:lvl1pPr>
            <a:lvl2pPr marL="432054" indent="0">
              <a:buNone/>
              <a:defRPr sz="1890" b="1"/>
            </a:lvl2pPr>
            <a:lvl3pPr marL="864108" indent="0">
              <a:buNone/>
              <a:defRPr sz="1701" b="1"/>
            </a:lvl3pPr>
            <a:lvl4pPr marL="1296162" indent="0">
              <a:buNone/>
              <a:defRPr sz="1512" b="1"/>
            </a:lvl4pPr>
            <a:lvl5pPr marL="1728216" indent="0">
              <a:buNone/>
              <a:defRPr sz="1512" b="1"/>
            </a:lvl5pPr>
            <a:lvl6pPr marL="2160270" indent="0">
              <a:buNone/>
              <a:defRPr sz="1512" b="1"/>
            </a:lvl6pPr>
            <a:lvl7pPr marL="2592324" indent="0">
              <a:buNone/>
              <a:defRPr sz="1512" b="1"/>
            </a:lvl7pPr>
            <a:lvl8pPr marL="3024378" indent="0">
              <a:buNone/>
              <a:defRPr sz="1512" b="1"/>
            </a:lvl8pPr>
            <a:lvl9pPr marL="3456432" indent="0">
              <a:buNone/>
              <a:defRPr sz="1512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74387" y="4463325"/>
            <a:ext cx="3673450" cy="656487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C0F25-B03F-4EB6-8CD6-5E6DCA1E2CCD}" type="datetimeFigureOut">
              <a:rPr lang="ko-KR" altLang="en-US" smtClean="0"/>
              <a:t>2017-09-10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2E466-4943-4CCE-981E-408A0E3E0F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34986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C0F25-B03F-4EB6-8CD6-5E6DCA1E2CCD}" type="datetimeFigureOut">
              <a:rPr lang="ko-KR" altLang="en-US" smtClean="0"/>
              <a:t>2017-09-10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2E466-4943-4CCE-981E-408A0E3E0F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508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C0F25-B03F-4EB6-8CD6-5E6DCA1E2CCD}" type="datetimeFigureOut">
              <a:rPr lang="ko-KR" altLang="en-US" smtClean="0"/>
              <a:t>2017-09-10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2E466-4943-4CCE-981E-408A0E3E0F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0947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5178" y="814599"/>
            <a:ext cx="2786871" cy="2851097"/>
          </a:xfrm>
        </p:spPr>
        <p:txBody>
          <a:bodyPr anchor="b"/>
          <a:lstStyle>
            <a:lvl1pPr>
              <a:defRPr sz="3024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73450" y="1759311"/>
            <a:ext cx="4374386" cy="8683401"/>
          </a:xfrm>
        </p:spPr>
        <p:txBody>
          <a:bodyPr/>
          <a:lstStyle>
            <a:lvl1pPr>
              <a:defRPr sz="3024"/>
            </a:lvl1pPr>
            <a:lvl2pPr>
              <a:defRPr sz="2646"/>
            </a:lvl2pPr>
            <a:lvl3pPr>
              <a:defRPr sz="2268"/>
            </a:lvl3pPr>
            <a:lvl4pPr>
              <a:defRPr sz="1890"/>
            </a:lvl4pPr>
            <a:lvl5pPr>
              <a:defRPr sz="1890"/>
            </a:lvl5pPr>
            <a:lvl6pPr>
              <a:defRPr sz="1890"/>
            </a:lvl6pPr>
            <a:lvl7pPr>
              <a:defRPr sz="1890"/>
            </a:lvl7pPr>
            <a:lvl8pPr>
              <a:defRPr sz="1890"/>
            </a:lvl8pPr>
            <a:lvl9pPr>
              <a:defRPr sz="189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5178" y="3665696"/>
            <a:ext cx="2786871" cy="6791156"/>
          </a:xfrm>
        </p:spPr>
        <p:txBody>
          <a:bodyPr/>
          <a:lstStyle>
            <a:lvl1pPr marL="0" indent="0">
              <a:buNone/>
              <a:defRPr sz="1512"/>
            </a:lvl1pPr>
            <a:lvl2pPr marL="432054" indent="0">
              <a:buNone/>
              <a:defRPr sz="1323"/>
            </a:lvl2pPr>
            <a:lvl3pPr marL="864108" indent="0">
              <a:buNone/>
              <a:defRPr sz="1134"/>
            </a:lvl3pPr>
            <a:lvl4pPr marL="1296162" indent="0">
              <a:buNone/>
              <a:defRPr sz="945"/>
            </a:lvl4pPr>
            <a:lvl5pPr marL="1728216" indent="0">
              <a:buNone/>
              <a:defRPr sz="945"/>
            </a:lvl5pPr>
            <a:lvl6pPr marL="2160270" indent="0">
              <a:buNone/>
              <a:defRPr sz="945"/>
            </a:lvl6pPr>
            <a:lvl7pPr marL="2592324" indent="0">
              <a:buNone/>
              <a:defRPr sz="945"/>
            </a:lvl7pPr>
            <a:lvl8pPr marL="3024378" indent="0">
              <a:buNone/>
              <a:defRPr sz="945"/>
            </a:lvl8pPr>
            <a:lvl9pPr marL="3456432" indent="0">
              <a:buNone/>
              <a:defRPr sz="945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C0F25-B03F-4EB6-8CD6-5E6DCA1E2CCD}" type="datetimeFigureOut">
              <a:rPr lang="ko-KR" altLang="en-US" smtClean="0"/>
              <a:t>2017-09-10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2E466-4943-4CCE-981E-408A0E3E0F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13164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5178" y="814599"/>
            <a:ext cx="2786871" cy="2851097"/>
          </a:xfrm>
        </p:spPr>
        <p:txBody>
          <a:bodyPr anchor="b"/>
          <a:lstStyle>
            <a:lvl1pPr>
              <a:defRPr sz="3024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673450" y="1759311"/>
            <a:ext cx="4374386" cy="8683401"/>
          </a:xfrm>
        </p:spPr>
        <p:txBody>
          <a:bodyPr anchor="t"/>
          <a:lstStyle>
            <a:lvl1pPr marL="0" indent="0">
              <a:buNone/>
              <a:defRPr sz="3024"/>
            </a:lvl1pPr>
            <a:lvl2pPr marL="432054" indent="0">
              <a:buNone/>
              <a:defRPr sz="2646"/>
            </a:lvl2pPr>
            <a:lvl3pPr marL="864108" indent="0">
              <a:buNone/>
              <a:defRPr sz="2268"/>
            </a:lvl3pPr>
            <a:lvl4pPr marL="1296162" indent="0">
              <a:buNone/>
              <a:defRPr sz="1890"/>
            </a:lvl4pPr>
            <a:lvl5pPr marL="1728216" indent="0">
              <a:buNone/>
              <a:defRPr sz="1890"/>
            </a:lvl5pPr>
            <a:lvl6pPr marL="2160270" indent="0">
              <a:buNone/>
              <a:defRPr sz="1890"/>
            </a:lvl6pPr>
            <a:lvl7pPr marL="2592324" indent="0">
              <a:buNone/>
              <a:defRPr sz="1890"/>
            </a:lvl7pPr>
            <a:lvl8pPr marL="3024378" indent="0">
              <a:buNone/>
              <a:defRPr sz="1890"/>
            </a:lvl8pPr>
            <a:lvl9pPr marL="3456432" indent="0">
              <a:buNone/>
              <a:defRPr sz="189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5178" y="3665696"/>
            <a:ext cx="2786871" cy="6791156"/>
          </a:xfrm>
        </p:spPr>
        <p:txBody>
          <a:bodyPr/>
          <a:lstStyle>
            <a:lvl1pPr marL="0" indent="0">
              <a:buNone/>
              <a:defRPr sz="1512"/>
            </a:lvl1pPr>
            <a:lvl2pPr marL="432054" indent="0">
              <a:buNone/>
              <a:defRPr sz="1323"/>
            </a:lvl2pPr>
            <a:lvl3pPr marL="864108" indent="0">
              <a:buNone/>
              <a:defRPr sz="1134"/>
            </a:lvl3pPr>
            <a:lvl4pPr marL="1296162" indent="0">
              <a:buNone/>
              <a:defRPr sz="945"/>
            </a:lvl4pPr>
            <a:lvl5pPr marL="1728216" indent="0">
              <a:buNone/>
              <a:defRPr sz="945"/>
            </a:lvl5pPr>
            <a:lvl6pPr marL="2160270" indent="0">
              <a:buNone/>
              <a:defRPr sz="945"/>
            </a:lvl6pPr>
            <a:lvl7pPr marL="2592324" indent="0">
              <a:buNone/>
              <a:defRPr sz="945"/>
            </a:lvl7pPr>
            <a:lvl8pPr marL="3024378" indent="0">
              <a:buNone/>
              <a:defRPr sz="945"/>
            </a:lvl8pPr>
            <a:lvl9pPr marL="3456432" indent="0">
              <a:buNone/>
              <a:defRPr sz="945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C0F25-B03F-4EB6-8CD6-5E6DCA1E2CCD}" type="datetimeFigureOut">
              <a:rPr lang="ko-KR" altLang="en-US" smtClean="0"/>
              <a:t>2017-09-10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2E466-4943-4CCE-981E-408A0E3E0F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3514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C0F25-B03F-4EB6-8CD6-5E6DCA1E2CCD}" type="datetimeFigureOut">
              <a:rPr lang="ko-KR" altLang="en-US" smtClean="0"/>
              <a:t>2017-09-10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2E466-4943-4CCE-981E-408A0E3E0F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22562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83546" y="650548"/>
            <a:ext cx="1863165" cy="1035502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053" y="650548"/>
            <a:ext cx="5481484" cy="1035502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C0F25-B03F-4EB6-8CD6-5E6DCA1E2CCD}" type="datetimeFigureOut">
              <a:rPr lang="ko-KR" altLang="en-US" smtClean="0"/>
              <a:t>2017-09-10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2E466-4943-4CCE-981E-408A0E3E0F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9963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94053" y="650551"/>
            <a:ext cx="7452658" cy="23617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053" y="3252740"/>
            <a:ext cx="7452658" cy="77528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4052" y="11325194"/>
            <a:ext cx="1944172" cy="6505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6C0F25-B03F-4EB6-8CD6-5E6DCA1E2CCD}" type="datetimeFigureOut">
              <a:rPr lang="ko-KR" altLang="en-US" smtClean="0"/>
              <a:t>2017-09-10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62253" y="11325194"/>
            <a:ext cx="2916258" cy="6505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102539" y="11325194"/>
            <a:ext cx="1944172" cy="6505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42E466-4943-4CCE-981E-408A0E3E0F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0248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864108" rtl="0" eaLnBrk="1" latinLnBrk="1" hangingPunct="1">
        <a:lnSpc>
          <a:spcPct val="90000"/>
        </a:lnSpc>
        <a:spcBef>
          <a:spcPct val="0"/>
        </a:spcBef>
        <a:buNone/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6027" indent="-216027" algn="l" defTabSz="864108" rtl="0" eaLnBrk="1" latinLnBrk="1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1pPr>
      <a:lvl2pPr marL="648081" indent="-216027" algn="l" defTabSz="864108" rtl="0" eaLnBrk="1" latinLnBrk="1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2pPr>
      <a:lvl3pPr marL="1080135" indent="-216027" algn="l" defTabSz="864108" rtl="0" eaLnBrk="1" latinLnBrk="1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512189" indent="-216027" algn="l" defTabSz="864108" rtl="0" eaLnBrk="1" latinLnBrk="1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944243" indent="-216027" algn="l" defTabSz="864108" rtl="0" eaLnBrk="1" latinLnBrk="1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376297" indent="-216027" algn="l" defTabSz="864108" rtl="0" eaLnBrk="1" latinLnBrk="1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808351" indent="-216027" algn="l" defTabSz="864108" rtl="0" eaLnBrk="1" latinLnBrk="1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240405" indent="-216027" algn="l" defTabSz="864108" rtl="0" eaLnBrk="1" latinLnBrk="1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672459" indent="-216027" algn="l" defTabSz="864108" rtl="0" eaLnBrk="1" latinLnBrk="1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64108" rtl="0" eaLnBrk="1" latinLnBrk="1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54" algn="l" defTabSz="864108" rtl="0" eaLnBrk="1" latinLnBrk="1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108" algn="l" defTabSz="864108" rtl="0" eaLnBrk="1" latinLnBrk="1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162" algn="l" defTabSz="864108" rtl="0" eaLnBrk="1" latinLnBrk="1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216" algn="l" defTabSz="864108" rtl="0" eaLnBrk="1" latinLnBrk="1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270" algn="l" defTabSz="864108" rtl="0" eaLnBrk="1" latinLnBrk="1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324" algn="l" defTabSz="864108" rtl="0" eaLnBrk="1" latinLnBrk="1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378" algn="l" defTabSz="864108" rtl="0" eaLnBrk="1" latinLnBrk="1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432" algn="l" defTabSz="864108" rtl="0" eaLnBrk="1" latinLnBrk="1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평행 사변형 8"/>
          <p:cNvSpPr/>
          <p:nvPr/>
        </p:nvSpPr>
        <p:spPr>
          <a:xfrm flipH="1">
            <a:off x="5434009" y="-4157"/>
            <a:ext cx="1246336" cy="963751"/>
          </a:xfrm>
          <a:prstGeom prst="parallelogram">
            <a:avLst>
              <a:gd name="adj" fmla="val 42141"/>
            </a:avLst>
          </a:prstGeom>
          <a:solidFill>
            <a:srgbClr val="5563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0" y="-11032"/>
            <a:ext cx="6270624" cy="969496"/>
          </a:xfrm>
          <a:prstGeom prst="rect">
            <a:avLst/>
          </a:prstGeom>
          <a:solidFill>
            <a:srgbClr val="2C3786"/>
          </a:solidFill>
        </p:spPr>
        <p:txBody>
          <a:bodyPr wrap="square" rtlCol="0">
            <a:spAutoFit/>
          </a:bodyPr>
          <a:lstStyle/>
          <a:p>
            <a:endParaRPr lang="en-US" altLang="ko-KR" sz="900" b="1" dirty="0" smtClean="0">
              <a:solidFill>
                <a:schemeClr val="accent4"/>
              </a:solidFill>
            </a:endParaRPr>
          </a:p>
          <a:p>
            <a:r>
              <a:rPr lang="en-US" altLang="ko-KR" sz="2400" b="1" dirty="0" smtClean="0">
                <a:solidFill>
                  <a:schemeClr val="accent4"/>
                </a:solidFill>
              </a:rPr>
              <a:t>Communications and Storage Laboratory*</a:t>
            </a:r>
          </a:p>
          <a:p>
            <a:endParaRPr lang="en-US" altLang="ko-KR" sz="100" b="1" dirty="0" smtClean="0">
              <a:solidFill>
                <a:srgbClr val="FFC000"/>
              </a:solidFill>
            </a:endParaRPr>
          </a:p>
          <a:p>
            <a:endParaRPr lang="en-US" altLang="ko-KR" sz="600" b="1" dirty="0" smtClean="0">
              <a:solidFill>
                <a:schemeClr val="bg1"/>
              </a:solidFill>
            </a:endParaRPr>
          </a:p>
          <a:p>
            <a:r>
              <a:rPr lang="en-US" altLang="ko-KR" sz="1200" b="1" dirty="0" smtClean="0">
                <a:solidFill>
                  <a:schemeClr val="bg1"/>
                </a:solidFill>
              </a:rPr>
              <a:t>* Selecting </a:t>
            </a:r>
            <a:r>
              <a:rPr lang="en-US" altLang="ko-KR" sz="1200" b="1" dirty="0">
                <a:solidFill>
                  <a:schemeClr val="bg1"/>
                </a:solidFill>
              </a:rPr>
              <a:t>KEPSI students only for 2018 </a:t>
            </a:r>
            <a:r>
              <a:rPr lang="en-US" altLang="ko-KR" sz="1200" b="1" dirty="0" smtClean="0">
                <a:solidFill>
                  <a:schemeClr val="bg1"/>
                </a:solidFill>
              </a:rPr>
              <a:t>Spring</a:t>
            </a:r>
          </a:p>
          <a:p>
            <a:endParaRPr lang="en-US" altLang="ko-KR" sz="400" b="1" dirty="0">
              <a:solidFill>
                <a:schemeClr val="bg1"/>
              </a:solidFill>
            </a:endParaRPr>
          </a:p>
          <a:p>
            <a:endParaRPr lang="en-US" altLang="ko-KR" sz="100" b="1" dirty="0">
              <a:solidFill>
                <a:srgbClr val="FFC000"/>
              </a:solidFill>
            </a:endParaRPr>
          </a:p>
        </p:txBody>
      </p:sp>
      <p:pic>
        <p:nvPicPr>
          <p:cNvPr id="1025" name="_x386884344" descr="EMB00002a583f1a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267"/>
          <a:stretch/>
        </p:blipFill>
        <p:spPr bwMode="auto">
          <a:xfrm>
            <a:off x="7856220" y="11977031"/>
            <a:ext cx="683261" cy="186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106680" y="1120675"/>
            <a:ext cx="6521048" cy="1200329"/>
          </a:xfrm>
          <a:prstGeom prst="rect">
            <a:avLst/>
          </a:prstGeom>
          <a:solidFill>
            <a:srgbClr val="4C558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endParaRPr lang="en-US" altLang="ko-KR" sz="1200" dirty="0"/>
          </a:p>
          <a:p>
            <a:endParaRPr lang="en-US" altLang="ko-KR" sz="1200" dirty="0"/>
          </a:p>
          <a:p>
            <a:endParaRPr lang="en-US" altLang="ko-KR" sz="1200" dirty="0"/>
          </a:p>
          <a:p>
            <a:endParaRPr lang="en-US" altLang="ko-KR" sz="1200" dirty="0" smtClean="0"/>
          </a:p>
          <a:p>
            <a:endParaRPr lang="en-US" altLang="ko-KR" sz="1200" dirty="0"/>
          </a:p>
          <a:p>
            <a:endParaRPr lang="en-US" altLang="ko-KR" sz="1200" dirty="0"/>
          </a:p>
        </p:txBody>
      </p:sp>
      <p:sp>
        <p:nvSpPr>
          <p:cNvPr id="10" name="TextBox 9"/>
          <p:cNvSpPr txBox="1"/>
          <p:nvPr/>
        </p:nvSpPr>
        <p:spPr>
          <a:xfrm>
            <a:off x="4439920" y="7531273"/>
            <a:ext cx="4099560" cy="3065455"/>
          </a:xfrm>
          <a:prstGeom prst="rect">
            <a:avLst/>
          </a:prstGeom>
          <a:noFill/>
          <a:ln w="38100">
            <a:solidFill>
              <a:schemeClr val="accent1">
                <a:lumMod val="20000"/>
                <a:lumOff val="80000"/>
                <a:alpha val="50196"/>
              </a:schemeClr>
            </a:solidFill>
          </a:ln>
          <a:effectLst>
            <a:outerShdw blurRad="12700" dist="12700" dir="2700000" algn="tl" rotWithShape="0">
              <a:prstClr val="black">
                <a:alpha val="10000"/>
              </a:prstClr>
            </a:outerShdw>
            <a:softEdge rad="317500"/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wrap="square" rtlCol="0">
            <a:spAutoFit/>
          </a:bodyPr>
          <a:lstStyle/>
          <a:p>
            <a:pPr algn="ctr"/>
            <a:endParaRPr lang="en-US" altLang="ko-KR" dirty="0"/>
          </a:p>
          <a:p>
            <a:pPr algn="ctr"/>
            <a:endParaRPr lang="en-US" altLang="ko-KR" dirty="0" smtClean="0"/>
          </a:p>
          <a:p>
            <a:pPr algn="ctr"/>
            <a:endParaRPr lang="en-US" altLang="ko-KR" dirty="0" smtClean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sz="1050" dirty="0"/>
          </a:p>
        </p:txBody>
      </p:sp>
      <p:sp>
        <p:nvSpPr>
          <p:cNvPr id="12" name="TextBox 11"/>
          <p:cNvSpPr txBox="1"/>
          <p:nvPr/>
        </p:nvSpPr>
        <p:spPr>
          <a:xfrm>
            <a:off x="106680" y="10566012"/>
            <a:ext cx="8420100" cy="136191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endParaRPr lang="en-US" altLang="ko-KR" sz="550" dirty="0"/>
          </a:p>
          <a:p>
            <a:endParaRPr lang="en-US" altLang="ko-KR" sz="550" dirty="0" smtClean="0"/>
          </a:p>
          <a:p>
            <a:pPr>
              <a:tabLst>
                <a:tab pos="982663" algn="l"/>
              </a:tabLst>
            </a:pPr>
            <a:endParaRPr lang="en-US" altLang="ko-KR" sz="550" dirty="0" smtClean="0"/>
          </a:p>
          <a:p>
            <a:pPr fontAlgn="base"/>
            <a:r>
              <a:rPr lang="en-US" altLang="ko-KR" sz="550" dirty="0"/>
              <a:t>[1] J. Sohn, S. W. Yoon and J. Moon, "Pilot Reuse Strategy Maximizing the Weighted-Sum-Rate in Massive MIMO Systems," IEEE Journal on Selected Areas in Communications, vol. 35, no. 8, pp. 1728-1740, Aug. 2017.</a:t>
            </a:r>
          </a:p>
          <a:p>
            <a:pPr fontAlgn="base"/>
            <a:r>
              <a:rPr lang="en-US" altLang="ko-KR" sz="550" dirty="0"/>
              <a:t>[2] D.-J. Han, J. Moon, D. Kim, S.-Y. Chung and Y. Lee, "Combined </a:t>
            </a:r>
            <a:r>
              <a:rPr lang="en-US" altLang="ko-KR" sz="550" dirty="0" err="1"/>
              <a:t>Subband</a:t>
            </a:r>
            <a:r>
              <a:rPr lang="en-US" altLang="ko-KR" sz="550" dirty="0"/>
              <a:t>-Subcarrier Spectral Shaping in Multi-Carrier Modulation under the Excess Frame Length Constraint," IEEE Journal on Selected Areas in Communications, vol. 35, no. 6, pp. 1339-1352, June 2017.</a:t>
            </a:r>
          </a:p>
          <a:p>
            <a:pPr fontAlgn="base"/>
            <a:r>
              <a:rPr lang="en-US" altLang="ko-KR" sz="550" dirty="0"/>
              <a:t>[3] S. W. Yoon and J. Moon, "Low-Complexity Concatenated Polar Codes with Excellent Scaling Behavior," 2017 IEEE International Conference on Communications (ICC) Workshop on Channel Coding for 5G and Future Networks, May. 2017</a:t>
            </a:r>
          </a:p>
          <a:p>
            <a:pPr fontAlgn="base"/>
            <a:r>
              <a:rPr lang="en-US" altLang="ko-KR" sz="550" dirty="0"/>
              <a:t>[4] H. Park and J. Moon, "Improving Read Access Time of High-Performance Solid-State Drives via Layered Coding Schemes," 2017 IEEE International Conference on Communications (ICC), May. 2017</a:t>
            </a:r>
          </a:p>
          <a:p>
            <a:pPr fontAlgn="base"/>
            <a:r>
              <a:rPr lang="en-US" altLang="ko-KR" sz="550" dirty="0"/>
              <a:t>[5] J. Sohn, B. Choi, S. W. Yoon and J. Moon, "Capacity of Clustered Distributed Storage," 2017 IEEE International Conference on Communications (ICC), May. 2017 (won the </a:t>
            </a:r>
            <a:r>
              <a:rPr lang="en-US" altLang="ko-KR" sz="550" b="1" dirty="0"/>
              <a:t>Best Paper Award</a:t>
            </a:r>
            <a:r>
              <a:rPr lang="en-US" altLang="ko-KR" sz="550" dirty="0"/>
              <a:t> of the conference)</a:t>
            </a:r>
          </a:p>
          <a:p>
            <a:pPr fontAlgn="base"/>
            <a:r>
              <a:rPr lang="en-US" altLang="ko-KR" sz="550" dirty="0"/>
              <a:t>[6] B. Choi, J. Sohn, S. W. Yoon and J. Moon, "Secure Clustered Distributed Storage Against Eavesdroppers," 2017 IEEE International Conference on Communications (ICC), May. 2017</a:t>
            </a:r>
          </a:p>
          <a:p>
            <a:pPr fontAlgn="base"/>
            <a:r>
              <a:rPr lang="en-US" altLang="ko-KR" sz="550" dirty="0"/>
              <a:t>[7] D. Lee, H. Park and J. Moon, "Reducing repair-bandwidth using codes based on factor graphs," 2016 IEEE International Conference on Communications (ICC), Kuala Lumpur, May. 2016</a:t>
            </a:r>
            <a:r>
              <a:rPr lang="en-US" altLang="ko-KR" sz="550" dirty="0" smtClean="0"/>
              <a:t>.</a:t>
            </a:r>
            <a:r>
              <a:rPr lang="en-US" altLang="ko-KR" sz="550" dirty="0"/>
              <a:t/>
            </a:r>
            <a:br>
              <a:rPr lang="en-US" altLang="ko-KR" sz="550" dirty="0"/>
            </a:br>
            <a:r>
              <a:rPr lang="en-US" altLang="ko-KR" sz="550" dirty="0"/>
              <a:t>[8] S. Kang, J. Moon, J. Ha and J. Shin, "Breaking the Trapping Sets in LDPC Codes: Check Node Removal and Collaborative Decoding," in IEEE Transactions on Communications, Jan. 2016. </a:t>
            </a:r>
            <a:br>
              <a:rPr lang="en-US" altLang="ko-KR" sz="550" dirty="0"/>
            </a:br>
            <a:r>
              <a:rPr lang="en-US" altLang="ko-KR" sz="550" dirty="0"/>
              <a:t>[9] J. Oh, J. Ha, H. Park and J. Moon, "RS-LDPC Concatenated Coding for the Modern Tape Storage Channel," in IEEE </a:t>
            </a:r>
            <a:r>
              <a:rPr lang="en-US" altLang="ko-KR" sz="550" dirty="0" smtClean="0"/>
              <a:t>Transactions on Communications, </a:t>
            </a:r>
            <a:r>
              <a:rPr lang="en-US" altLang="ko-KR" sz="550" dirty="0"/>
              <a:t>Jan. 2016. </a:t>
            </a:r>
            <a:br>
              <a:rPr lang="en-US" altLang="ko-KR" sz="550" dirty="0"/>
            </a:br>
            <a:r>
              <a:rPr lang="en-US" altLang="ko-KR" sz="550" dirty="0"/>
              <a:t>[10] S. W. Yoon and J. Moon, "Two-Dimensional Error-Pattern-Correcting Codes," in IEEE Transactions on Communications, Aug. 2015.</a:t>
            </a:r>
            <a:br>
              <a:rPr lang="en-US" altLang="ko-KR" sz="550" dirty="0"/>
            </a:br>
            <a:r>
              <a:rPr lang="en-US" altLang="ko-KR" sz="550" dirty="0"/>
              <a:t>[11] J. Y. Sohn, S. W. Yoon and J. Moon, "When pilots should not be reused across interfering cells in massive MIMO," 2015 IEEE International Conference on Communication Workshop (ICCW), London, 2015 (won the </a:t>
            </a:r>
            <a:r>
              <a:rPr lang="en-US" altLang="ko-KR" sz="550" b="1" dirty="0"/>
              <a:t>Qualcomm Innovation Award</a:t>
            </a:r>
            <a:r>
              <a:rPr lang="en-US" altLang="ko-KR" sz="550" dirty="0"/>
              <a:t> in 2015).</a:t>
            </a:r>
            <a:br>
              <a:rPr lang="en-US" altLang="ko-KR" sz="550" dirty="0"/>
            </a:br>
            <a:r>
              <a:rPr lang="en-US" altLang="ko-KR" sz="550" dirty="0"/>
              <a:t>[12] G. Yu and J. Moon, "Concatenated Raptor Codes in NAND Flash Memory," in IEEE Journal on Selected Areas in Comm., May 2014.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61840" y="7572830"/>
            <a:ext cx="33604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chemeClr val="accent1">
                    <a:lumMod val="75000"/>
                  </a:schemeClr>
                </a:solidFill>
              </a:rPr>
              <a:t>5G Communications</a:t>
            </a:r>
            <a:r>
              <a:rPr lang="en-US" altLang="ko-KR" sz="1600" b="1" baseline="30000" dirty="0" smtClean="0">
                <a:solidFill>
                  <a:schemeClr val="accent2"/>
                </a:solidFill>
              </a:rPr>
              <a:t>[1,2,11]</a:t>
            </a:r>
            <a:endParaRPr lang="ko-KR" altLang="en-US" sz="1600" b="1" baseline="30000" dirty="0">
              <a:solidFill>
                <a:schemeClr val="accent2"/>
              </a:solidFill>
            </a:endParaRPr>
          </a:p>
          <a:p>
            <a:endParaRPr lang="ko-KR" altLang="en-US" sz="1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4561840" y="7922140"/>
            <a:ext cx="3807460" cy="252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/>
          <p:cNvPicPr>
            <a:picLocks noChangeAspect="1"/>
          </p:cNvPicPr>
          <p:nvPr/>
        </p:nvPicPr>
        <p:blipFill rotWithShape="1">
          <a:blip r:embed="rId3"/>
          <a:srcRect l="2518" r="7232"/>
          <a:stretch/>
        </p:blipFill>
        <p:spPr>
          <a:xfrm>
            <a:off x="4605563" y="7985210"/>
            <a:ext cx="1807815" cy="1372049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3378" y="9128049"/>
            <a:ext cx="1993345" cy="1404879"/>
          </a:xfrm>
          <a:prstGeom prst="rect">
            <a:avLst/>
          </a:prstGeom>
        </p:spPr>
      </p:pic>
      <p:sp>
        <p:nvSpPr>
          <p:cNvPr id="99" name="TextBox 98"/>
          <p:cNvSpPr txBox="1"/>
          <p:nvPr/>
        </p:nvSpPr>
        <p:spPr>
          <a:xfrm>
            <a:off x="6421633" y="8033199"/>
            <a:ext cx="2258090" cy="1031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altLang="ko-KR" sz="1000" dirty="0" smtClean="0"/>
              <a:t>Pilot Reuse Strategies in Massive MIMO Systems. We proposed pilot reuse methods which effectively mitigate pilot contamination and increase the net throughput</a:t>
            </a:r>
            <a:r>
              <a:rPr lang="en-US" altLang="ko-KR" sz="1000" dirty="0"/>
              <a:t>.</a:t>
            </a:r>
            <a:endParaRPr lang="en-US" altLang="ko-KR" sz="1100" dirty="0"/>
          </a:p>
          <a:p>
            <a:endParaRPr lang="en-US" altLang="ko-KR" sz="1100" dirty="0"/>
          </a:p>
        </p:txBody>
      </p:sp>
      <p:pic>
        <p:nvPicPr>
          <p:cNvPr id="103" name="그림 10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651" y="3626217"/>
            <a:ext cx="3360955" cy="2065752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228600" y="2899454"/>
            <a:ext cx="39776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altLang="ko-KR" sz="1000" dirty="0" smtClean="0"/>
              <a:t>Recently, 3D NAND flash has been introduced to replace 2D NAND flash. We investigate equalization techniques and error-correction coding algorithms to reduce the error rate of 3D NAND flash.</a:t>
            </a:r>
          </a:p>
        </p:txBody>
      </p:sp>
      <p:pic>
        <p:nvPicPr>
          <p:cNvPr id="107" name="그림 10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6654" y="5850314"/>
            <a:ext cx="3174066" cy="1608198"/>
          </a:xfrm>
          <a:prstGeom prst="rect">
            <a:avLst/>
          </a:prstGeom>
        </p:spPr>
      </p:pic>
      <p:sp>
        <p:nvSpPr>
          <p:cNvPr id="108" name="TextBox 107"/>
          <p:cNvSpPr txBox="1"/>
          <p:nvPr/>
        </p:nvSpPr>
        <p:spPr>
          <a:xfrm>
            <a:off x="4495800" y="4991100"/>
            <a:ext cx="33604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chemeClr val="accent1">
                    <a:lumMod val="75000"/>
                  </a:schemeClr>
                </a:solidFill>
              </a:rPr>
              <a:t>Distributed Storage System</a:t>
            </a:r>
            <a:r>
              <a:rPr lang="en-US" altLang="ko-KR" sz="1600" b="1" baseline="30000" dirty="0" smtClean="0">
                <a:solidFill>
                  <a:schemeClr val="accent2"/>
                </a:solidFill>
              </a:rPr>
              <a:t>[4-7]</a:t>
            </a:r>
            <a:endParaRPr lang="ko-KR" altLang="en-US" sz="1600" b="1" baseline="30000" dirty="0">
              <a:solidFill>
                <a:schemeClr val="accent2"/>
              </a:solidFill>
            </a:endParaRPr>
          </a:p>
          <a:p>
            <a:endParaRPr lang="ko-KR" altLang="en-US" sz="1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09" name="직사각형 108"/>
          <p:cNvSpPr/>
          <p:nvPr/>
        </p:nvSpPr>
        <p:spPr>
          <a:xfrm>
            <a:off x="4495800" y="5340410"/>
            <a:ext cx="3807460" cy="252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5211" y="3406452"/>
            <a:ext cx="3532574" cy="1404968"/>
          </a:xfrm>
          <a:prstGeom prst="rect">
            <a:avLst/>
          </a:prstGeom>
        </p:spPr>
      </p:pic>
      <p:pic>
        <p:nvPicPr>
          <p:cNvPr id="1026" name="Picture 2" descr="KAIST 전기 및 전자공학부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080" y="12017451"/>
            <a:ext cx="969886" cy="143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TextBox 32"/>
          <p:cNvSpPr txBox="1"/>
          <p:nvPr/>
        </p:nvSpPr>
        <p:spPr>
          <a:xfrm>
            <a:off x="4425951" y="5393046"/>
            <a:ext cx="40411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altLang="ko-KR" sz="1000" dirty="0" smtClean="0"/>
              <a:t>Distributed storage system is a network of storage nodes to store data reliably over a long period of time. We focus on network coding for distributed storage, considering </a:t>
            </a:r>
            <a:r>
              <a:rPr lang="en-US" altLang="ko-KR" sz="1000" dirty="0"/>
              <a:t>bandwidth </a:t>
            </a:r>
            <a:r>
              <a:rPr lang="en-US" altLang="ko-KR" sz="1000" dirty="0" smtClean="0"/>
              <a:t>efficiency, latency and security issues.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13697" y="2846567"/>
            <a:ext cx="39776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altLang="ko-KR" sz="1000" dirty="0" smtClean="0"/>
              <a:t>We focus on developing clustered neural network with an external memory for high speed/adaptive meta learning.  Both theoretical and experimental analyses are ongoing.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5740" y="2457712"/>
            <a:ext cx="33604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chemeClr val="accent1">
                    <a:lumMod val="75000"/>
                  </a:schemeClr>
                </a:solidFill>
              </a:rPr>
              <a:t>3D NAND Flash</a:t>
            </a:r>
            <a:endParaRPr lang="ko-KR" altLang="en-US" sz="1600" b="1" baseline="30000" dirty="0">
              <a:solidFill>
                <a:schemeClr val="accent2"/>
              </a:solidFill>
            </a:endParaRPr>
          </a:p>
          <a:p>
            <a:endParaRPr lang="ko-KR" altLang="en-US" sz="1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205740" y="2807022"/>
            <a:ext cx="3807460" cy="252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/>
          <p:cNvSpPr txBox="1"/>
          <p:nvPr/>
        </p:nvSpPr>
        <p:spPr>
          <a:xfrm>
            <a:off x="4389120" y="9225074"/>
            <a:ext cx="2151380" cy="1031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altLang="ko-KR" sz="1000" dirty="0" smtClean="0"/>
              <a:t>New Waveform Design for 5G low-latency Communications. We investigate ways of improving OFDM by combining windowing and filtering.</a:t>
            </a:r>
            <a:endParaRPr lang="ko-KR" altLang="en-US" sz="1000" dirty="0"/>
          </a:p>
        </p:txBody>
      </p:sp>
      <p:sp>
        <p:nvSpPr>
          <p:cNvPr id="34" name="TextBox 33"/>
          <p:cNvSpPr txBox="1"/>
          <p:nvPr/>
        </p:nvSpPr>
        <p:spPr>
          <a:xfrm>
            <a:off x="4523740" y="2437947"/>
            <a:ext cx="33604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chemeClr val="accent1">
                    <a:lumMod val="75000"/>
                  </a:schemeClr>
                </a:solidFill>
              </a:rPr>
              <a:t>Artificial Intelligence</a:t>
            </a:r>
            <a:endParaRPr lang="ko-KR" altLang="en-US" sz="1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4523740" y="2758682"/>
            <a:ext cx="3807460" cy="252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/>
          <p:cNvSpPr txBox="1"/>
          <p:nvPr/>
        </p:nvSpPr>
        <p:spPr>
          <a:xfrm>
            <a:off x="231139" y="6140712"/>
            <a:ext cx="40882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chemeClr val="accent1">
                    <a:lumMod val="75000"/>
                  </a:schemeClr>
                </a:solidFill>
              </a:rPr>
              <a:t>System Error-Correction Codes (ECCs)</a:t>
            </a:r>
            <a:r>
              <a:rPr lang="en-US" altLang="ko-KR" sz="1600" b="1" baseline="30000" dirty="0">
                <a:solidFill>
                  <a:schemeClr val="accent2"/>
                </a:solidFill>
              </a:rPr>
              <a:t> </a:t>
            </a:r>
            <a:r>
              <a:rPr lang="en-US" altLang="ko-KR" sz="1600" b="1" baseline="30000" dirty="0" smtClean="0">
                <a:solidFill>
                  <a:schemeClr val="accent2"/>
                </a:solidFill>
              </a:rPr>
              <a:t>[3, 8-10, 12]</a:t>
            </a:r>
            <a:endParaRPr lang="ko-KR" altLang="en-US" sz="1600" b="1" baseline="30000" dirty="0">
              <a:solidFill>
                <a:schemeClr val="accent2"/>
              </a:solidFill>
            </a:endParaRPr>
          </a:p>
          <a:p>
            <a:endParaRPr lang="ko-KR" altLang="en-US" sz="1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231140" y="6512882"/>
            <a:ext cx="3807460" cy="252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005" y="9055582"/>
            <a:ext cx="3898629" cy="1179123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200" y="7466925"/>
            <a:ext cx="3464519" cy="1444665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627728" y="243527"/>
            <a:ext cx="138811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 smtClean="0"/>
              <a:t>Prof. </a:t>
            </a:r>
            <a:r>
              <a:rPr lang="en-US" altLang="ko-KR" sz="1100" b="1" dirty="0" err="1" smtClean="0"/>
              <a:t>Jaekyun</a:t>
            </a:r>
            <a:r>
              <a:rPr lang="en-US" altLang="ko-KR" sz="1100" b="1" dirty="0" smtClean="0"/>
              <a:t> Moon</a:t>
            </a:r>
          </a:p>
          <a:p>
            <a:endParaRPr lang="en-US" altLang="ko-KR" sz="300" dirty="0" smtClean="0"/>
          </a:p>
          <a:p>
            <a:r>
              <a:rPr lang="en-US" altLang="ko-KR" sz="700" dirty="0" smtClean="0"/>
              <a:t>School of Electrical Engineering</a:t>
            </a:r>
            <a:endParaRPr lang="ko-KR" altLang="en-US" sz="700" dirty="0"/>
          </a:p>
        </p:txBody>
      </p:sp>
      <p:sp>
        <p:nvSpPr>
          <p:cNvPr id="45" name="TextBox 44"/>
          <p:cNvSpPr txBox="1"/>
          <p:nvPr/>
        </p:nvSpPr>
        <p:spPr>
          <a:xfrm>
            <a:off x="219805" y="6654035"/>
            <a:ext cx="39776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altLang="ko-KR" sz="1000" dirty="0" smtClean="0"/>
              <a:t>Error-correction codes (ECCs) for storage applications are under study with a particular focus on the tradeoffs and efficient allocation of resources throughout the system.</a:t>
            </a:r>
          </a:p>
        </p:txBody>
      </p:sp>
      <p:grpSp>
        <p:nvGrpSpPr>
          <p:cNvPr id="21" name="그룹 20"/>
          <p:cNvGrpSpPr/>
          <p:nvPr/>
        </p:nvGrpSpPr>
        <p:grpSpPr>
          <a:xfrm>
            <a:off x="125730" y="10476484"/>
            <a:ext cx="3807460" cy="584775"/>
            <a:chOff x="132080" y="10686034"/>
            <a:chExt cx="3807460" cy="584775"/>
          </a:xfrm>
        </p:grpSpPr>
        <p:sp>
          <p:nvSpPr>
            <p:cNvPr id="46" name="TextBox 45"/>
            <p:cNvSpPr txBox="1"/>
            <p:nvPr/>
          </p:nvSpPr>
          <p:spPr>
            <a:xfrm>
              <a:off x="132080" y="10686034"/>
              <a:ext cx="378206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b="1" dirty="0" smtClean="0">
                  <a:solidFill>
                    <a:schemeClr val="accent1">
                      <a:lumMod val="75000"/>
                    </a:schemeClr>
                  </a:solidFill>
                </a:rPr>
                <a:t>Recent Research Achievements</a:t>
              </a:r>
              <a:endParaRPr lang="ko-KR" altLang="en-US" sz="1600" b="1" baseline="30000" dirty="0">
                <a:solidFill>
                  <a:schemeClr val="accent2"/>
                </a:solidFill>
              </a:endParaRPr>
            </a:p>
            <a:p>
              <a:endParaRPr lang="ko-KR" altLang="en-US" sz="16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47" name="직사각형 46"/>
            <p:cNvSpPr/>
            <p:nvPr/>
          </p:nvSpPr>
          <p:spPr>
            <a:xfrm>
              <a:off x="132080" y="10990894"/>
              <a:ext cx="3807460" cy="25200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8" name="TextBox 47"/>
          <p:cNvSpPr txBox="1"/>
          <p:nvPr/>
        </p:nvSpPr>
        <p:spPr>
          <a:xfrm>
            <a:off x="4439920" y="4990815"/>
            <a:ext cx="4099560" cy="2429896"/>
          </a:xfrm>
          <a:prstGeom prst="rect">
            <a:avLst/>
          </a:prstGeom>
          <a:noFill/>
          <a:ln w="38100">
            <a:solidFill>
              <a:schemeClr val="accent1">
                <a:lumMod val="20000"/>
                <a:lumOff val="80000"/>
                <a:alpha val="50196"/>
              </a:schemeClr>
            </a:solidFill>
          </a:ln>
          <a:effectLst>
            <a:outerShdw blurRad="12700" dist="12700" dir="2700000" algn="tl" rotWithShape="0">
              <a:prstClr val="black">
                <a:alpha val="20000"/>
              </a:prstClr>
            </a:outerShdw>
            <a:softEdge rad="317500"/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wrap="square" rtlCol="0">
            <a:spAutoFit/>
          </a:bodyPr>
          <a:lstStyle/>
          <a:p>
            <a:pPr algn="ctr"/>
            <a:endParaRPr lang="en-US" altLang="ko-KR" dirty="0"/>
          </a:p>
          <a:p>
            <a:pPr algn="ctr"/>
            <a:endParaRPr lang="en-US" altLang="ko-KR" dirty="0" smtClean="0"/>
          </a:p>
          <a:p>
            <a:pPr algn="ctr"/>
            <a:endParaRPr lang="en-US" altLang="ko-KR" dirty="0" smtClean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endParaRPr lang="en-US" altLang="ko-KR" dirty="0" smtClean="0"/>
          </a:p>
          <a:p>
            <a:endParaRPr lang="en-US" altLang="ko-KR" sz="700" dirty="0"/>
          </a:p>
          <a:p>
            <a:endParaRPr lang="en-US" altLang="ko-KR" sz="1050" dirty="0"/>
          </a:p>
        </p:txBody>
      </p:sp>
      <p:sp>
        <p:nvSpPr>
          <p:cNvPr id="49" name="TextBox 48"/>
          <p:cNvSpPr txBox="1"/>
          <p:nvPr/>
        </p:nvSpPr>
        <p:spPr>
          <a:xfrm>
            <a:off x="4439920" y="2441841"/>
            <a:ext cx="4099560" cy="2429896"/>
          </a:xfrm>
          <a:prstGeom prst="rect">
            <a:avLst/>
          </a:prstGeom>
          <a:noFill/>
          <a:ln w="38100">
            <a:solidFill>
              <a:schemeClr val="accent1">
                <a:lumMod val="20000"/>
                <a:lumOff val="80000"/>
                <a:alpha val="50196"/>
              </a:schemeClr>
            </a:solidFill>
          </a:ln>
          <a:effectLst>
            <a:outerShdw blurRad="12700" dist="12700" dir="2700000" algn="tl" rotWithShape="0">
              <a:prstClr val="black">
                <a:alpha val="10000"/>
              </a:prstClr>
            </a:outerShd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wrap="square" rtlCol="0">
            <a:spAutoFit/>
          </a:bodyPr>
          <a:lstStyle/>
          <a:p>
            <a:pPr algn="ctr"/>
            <a:endParaRPr lang="en-US" altLang="ko-KR" dirty="0"/>
          </a:p>
          <a:p>
            <a:pPr algn="ctr"/>
            <a:endParaRPr lang="en-US" altLang="ko-KR" dirty="0" smtClean="0"/>
          </a:p>
          <a:p>
            <a:pPr algn="ctr"/>
            <a:endParaRPr lang="en-US" altLang="ko-KR" dirty="0" smtClean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endParaRPr lang="en-US" altLang="ko-KR" dirty="0" smtClean="0"/>
          </a:p>
          <a:p>
            <a:endParaRPr lang="en-US" altLang="ko-KR" sz="700" dirty="0"/>
          </a:p>
          <a:p>
            <a:endParaRPr lang="en-US" altLang="ko-KR" sz="1050" dirty="0"/>
          </a:p>
        </p:txBody>
      </p:sp>
      <p:sp>
        <p:nvSpPr>
          <p:cNvPr id="51" name="TextBox 50"/>
          <p:cNvSpPr txBox="1"/>
          <p:nvPr/>
        </p:nvSpPr>
        <p:spPr>
          <a:xfrm>
            <a:off x="118111" y="2445248"/>
            <a:ext cx="4099560" cy="3464025"/>
          </a:xfrm>
          <a:prstGeom prst="rect">
            <a:avLst/>
          </a:prstGeom>
          <a:noFill/>
          <a:ln w="38100">
            <a:solidFill>
              <a:schemeClr val="accent1">
                <a:lumMod val="20000"/>
                <a:lumOff val="80000"/>
                <a:alpha val="50196"/>
              </a:schemeClr>
            </a:solidFill>
          </a:ln>
          <a:effectLst>
            <a:outerShdw blurRad="12700" dist="12700" dir="2700000" algn="tl" rotWithShape="0">
              <a:prstClr val="black">
                <a:alpha val="10000"/>
              </a:prstClr>
            </a:outerShdw>
            <a:softEdge rad="317500"/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wrap="square" rtlCol="0">
            <a:spAutoFit/>
          </a:bodyPr>
          <a:lstStyle/>
          <a:p>
            <a:pPr algn="ctr"/>
            <a:endParaRPr lang="en-US" altLang="ko-KR" dirty="0"/>
          </a:p>
          <a:p>
            <a:pPr algn="ctr"/>
            <a:endParaRPr lang="en-US" altLang="ko-KR" dirty="0" smtClean="0"/>
          </a:p>
          <a:p>
            <a:pPr algn="ctr"/>
            <a:endParaRPr lang="en-US" altLang="ko-KR" dirty="0" smtClean="0"/>
          </a:p>
          <a:p>
            <a:pPr algn="ctr"/>
            <a:endParaRPr lang="en-US" altLang="ko-KR" dirty="0" smtClean="0"/>
          </a:p>
          <a:p>
            <a:pPr algn="ctr"/>
            <a:endParaRPr lang="en-US" altLang="ko-KR" dirty="0"/>
          </a:p>
          <a:p>
            <a:pPr algn="ctr"/>
            <a:endParaRPr lang="en-US" altLang="ko-KR" dirty="0" smtClean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endParaRPr lang="en-US" altLang="ko-KR" dirty="0" smtClean="0"/>
          </a:p>
          <a:p>
            <a:endParaRPr lang="en-US" altLang="ko-KR" sz="700" dirty="0"/>
          </a:p>
          <a:p>
            <a:endParaRPr lang="en-US" altLang="ko-KR" sz="1050" dirty="0"/>
          </a:p>
        </p:txBody>
      </p:sp>
      <p:sp>
        <p:nvSpPr>
          <p:cNvPr id="52" name="TextBox 51"/>
          <p:cNvSpPr txBox="1"/>
          <p:nvPr/>
        </p:nvSpPr>
        <p:spPr>
          <a:xfrm>
            <a:off x="120745" y="6090756"/>
            <a:ext cx="4099560" cy="4153445"/>
          </a:xfrm>
          <a:prstGeom prst="rect">
            <a:avLst/>
          </a:prstGeom>
          <a:noFill/>
          <a:ln w="38100">
            <a:solidFill>
              <a:schemeClr val="accent1">
                <a:lumMod val="20000"/>
                <a:lumOff val="80000"/>
                <a:alpha val="50196"/>
              </a:schemeClr>
            </a:solidFill>
          </a:ln>
          <a:effectLst>
            <a:outerShdw blurRad="12700" dist="12700" dir="2700000" algn="tl" rotWithShape="0">
              <a:prstClr val="black">
                <a:alpha val="10000"/>
              </a:prstClr>
            </a:outerShdw>
            <a:softEdge rad="317500"/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wrap="square" rtlCol="0">
            <a:spAutoFit/>
          </a:bodyPr>
          <a:lstStyle/>
          <a:p>
            <a:pPr algn="ctr"/>
            <a:endParaRPr lang="en-US" altLang="ko-KR" dirty="0"/>
          </a:p>
          <a:p>
            <a:pPr algn="ctr"/>
            <a:endParaRPr lang="en-US" altLang="ko-KR" dirty="0" smtClean="0"/>
          </a:p>
          <a:p>
            <a:pPr algn="ctr"/>
            <a:endParaRPr lang="en-US" altLang="ko-KR" dirty="0" smtClean="0"/>
          </a:p>
          <a:p>
            <a:pPr algn="ctr"/>
            <a:endParaRPr lang="en-US" altLang="ko-KR" dirty="0" smtClean="0"/>
          </a:p>
          <a:p>
            <a:pPr algn="ctr"/>
            <a:endParaRPr lang="en-US" altLang="ko-KR" dirty="0"/>
          </a:p>
          <a:p>
            <a:pPr algn="ctr"/>
            <a:endParaRPr lang="en-US" altLang="ko-KR" dirty="0" smtClean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sz="700" dirty="0"/>
          </a:p>
          <a:p>
            <a:endParaRPr lang="en-US" altLang="ko-KR" sz="1050" dirty="0"/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4160" y="8562"/>
            <a:ext cx="745720" cy="931982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344805" y="1190594"/>
            <a:ext cx="6068573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100" b="1" dirty="0">
                <a:solidFill>
                  <a:schemeClr val="bg1"/>
                </a:solidFill>
              </a:rPr>
              <a:t>The Communications and Storage Lab (the "</a:t>
            </a:r>
            <a:r>
              <a:rPr lang="en-US" altLang="ko-KR" sz="1100" b="1" dirty="0" err="1">
                <a:solidFill>
                  <a:schemeClr val="bg1"/>
                </a:solidFill>
              </a:rPr>
              <a:t>ComSto</a:t>
            </a:r>
            <a:r>
              <a:rPr lang="en-US" altLang="ko-KR" sz="1100" b="1" dirty="0">
                <a:solidFill>
                  <a:schemeClr val="bg1"/>
                </a:solidFill>
              </a:rPr>
              <a:t>" Lab) is Prof. </a:t>
            </a:r>
            <a:r>
              <a:rPr lang="en-US" altLang="ko-KR" sz="1100" b="1" dirty="0" err="1" smtClean="0">
                <a:solidFill>
                  <a:schemeClr val="bg1"/>
                </a:solidFill>
              </a:rPr>
              <a:t>Jaekyun</a:t>
            </a:r>
            <a:r>
              <a:rPr lang="en-US" altLang="ko-KR" sz="1100" b="1" dirty="0" smtClean="0">
                <a:solidFill>
                  <a:schemeClr val="bg1"/>
                </a:solidFill>
              </a:rPr>
              <a:t> </a:t>
            </a:r>
            <a:r>
              <a:rPr lang="en-US" altLang="ko-KR" sz="1100" b="1" dirty="0">
                <a:solidFill>
                  <a:schemeClr val="bg1"/>
                </a:solidFill>
              </a:rPr>
              <a:t>Moon's research group in the </a:t>
            </a:r>
            <a:r>
              <a:rPr lang="en-US" altLang="ko-KR" sz="1100" b="1" dirty="0" smtClean="0">
                <a:solidFill>
                  <a:schemeClr val="bg1"/>
                </a:solidFill>
              </a:rPr>
              <a:t>School </a:t>
            </a:r>
            <a:r>
              <a:rPr lang="en-US" altLang="ko-KR" sz="1100" b="1" dirty="0">
                <a:solidFill>
                  <a:schemeClr val="bg1"/>
                </a:solidFill>
              </a:rPr>
              <a:t>of Electrical Engineering at KAIST. Our research deals with signal processing and coding for various communication and storage channels. Our research topics cover a broad range of issues - from highly theoretical capacity studies to more practically-oriented low-complexity algorithms - on equalization, detection, interference cancelation, error correction coding, channel-matched coding, timing recovery and parameter estimation.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725" y="1076150"/>
            <a:ext cx="2381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 smtClean="0">
                <a:solidFill>
                  <a:schemeClr val="bg1"/>
                </a:solidFill>
              </a:rPr>
              <a:t>“</a:t>
            </a:r>
            <a:endParaRPr lang="ko-KR" altLang="en-US" sz="3200" b="1" dirty="0">
              <a:solidFill>
                <a:schemeClr val="bg1"/>
              </a:solidFill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6281421" y="1763644"/>
            <a:ext cx="39626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3200" b="1" dirty="0">
                <a:solidFill>
                  <a:schemeClr val="bg1"/>
                </a:solidFill>
              </a:rPr>
              <a:t>’’</a:t>
            </a:r>
            <a:endParaRPr lang="ko-KR" altLang="en-US" sz="3200" b="1" dirty="0">
              <a:solidFill>
                <a:schemeClr val="bg1"/>
              </a:solidFill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0" y="938418"/>
            <a:ext cx="8640763" cy="56232"/>
          </a:xfrm>
          <a:prstGeom prst="rect">
            <a:avLst/>
          </a:prstGeom>
          <a:solidFill>
            <a:srgbClr val="FAB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각 삼각형 23"/>
          <p:cNvSpPr/>
          <p:nvPr/>
        </p:nvSpPr>
        <p:spPr>
          <a:xfrm rot="10800000">
            <a:off x="5873433" y="-6775"/>
            <a:ext cx="397337" cy="934955"/>
          </a:xfrm>
          <a:prstGeom prst="rtTriangle">
            <a:avLst/>
          </a:prstGeom>
          <a:solidFill>
            <a:srgbClr val="5563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9" name="그림 18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3687" y="1120675"/>
            <a:ext cx="1813093" cy="1209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089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1078</TotalTime>
  <Words>634</Words>
  <Application>Microsoft Office PowerPoint</Application>
  <PresentationFormat>사용자 지정</PresentationFormat>
  <Paragraphs>77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맑은 고딕</vt:lpstr>
      <vt:lpstr>Arial</vt:lpstr>
      <vt:lpstr>Calibri</vt:lpstr>
      <vt:lpstr>Calibri Light</vt:lpstr>
      <vt:lpstr>Wingdings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Jiyong Sohn</dc:creator>
  <cp:lastModifiedBy>jyyong Sohn</cp:lastModifiedBy>
  <cp:revision>79</cp:revision>
  <dcterms:created xsi:type="dcterms:W3CDTF">2015-02-26T06:59:46Z</dcterms:created>
  <dcterms:modified xsi:type="dcterms:W3CDTF">2017-09-10T05:04:14Z</dcterms:modified>
</cp:coreProperties>
</file>